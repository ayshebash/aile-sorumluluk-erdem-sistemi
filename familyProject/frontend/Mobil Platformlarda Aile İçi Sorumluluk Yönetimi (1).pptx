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Poppins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3DA957-5214-4079-95FD-D30295521A98}">
  <a:tblStyle styleId="{943DA957-5214-4079-95FD-D30295521A9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oppins-regular.fntdata"/><Relationship Id="rId21" Type="http://schemas.openxmlformats.org/officeDocument/2006/relationships/slide" Target="slides/slide15.xml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regular.fntdata"/><Relationship Id="rId25" Type="http://schemas.openxmlformats.org/officeDocument/2006/relationships/font" Target="fonts/Poppins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2849eea88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d2849eea88_0_3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2849eea88_0_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d2849eea88_0_5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2849eea88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d2849eea88_0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2849eea88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d2849eea88_0_1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2849eea88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d2849eea88_0_2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4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42.png"/><Relationship Id="rId6" Type="http://schemas.openxmlformats.org/officeDocument/2006/relationships/image" Target="../media/image12.png"/><Relationship Id="rId7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27.png"/><Relationship Id="rId5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9" Type="http://schemas.openxmlformats.org/officeDocument/2006/relationships/image" Target="../media/image39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22.png"/><Relationship Id="rId8" Type="http://schemas.openxmlformats.org/officeDocument/2006/relationships/image" Target="../media/image4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7.png"/><Relationship Id="rId9" Type="http://schemas.openxmlformats.org/officeDocument/2006/relationships/image" Target="../media/image32.png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image" Target="../media/image10.png"/><Relationship Id="rId8" Type="http://schemas.openxmlformats.org/officeDocument/2006/relationships/image" Target="../media/image3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image" Target="../media/image14.png"/><Relationship Id="rId8" Type="http://schemas.openxmlformats.org/officeDocument/2006/relationships/image" Target="../media/image5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26.png"/><Relationship Id="rId11" Type="http://schemas.openxmlformats.org/officeDocument/2006/relationships/image" Target="../media/image28.png"/><Relationship Id="rId10" Type="http://schemas.openxmlformats.org/officeDocument/2006/relationships/image" Target="../media/image24.png"/><Relationship Id="rId12" Type="http://schemas.openxmlformats.org/officeDocument/2006/relationships/image" Target="../media/image46.png"/><Relationship Id="rId9" Type="http://schemas.openxmlformats.org/officeDocument/2006/relationships/image" Target="../media/image29.png"/><Relationship Id="rId5" Type="http://schemas.openxmlformats.org/officeDocument/2006/relationships/image" Target="../media/image36.png"/><Relationship Id="rId6" Type="http://schemas.openxmlformats.org/officeDocument/2006/relationships/image" Target="../media/image48.png"/><Relationship Id="rId7" Type="http://schemas.openxmlformats.org/officeDocument/2006/relationships/image" Target="../media/image25.png"/><Relationship Id="rId8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26.png"/><Relationship Id="rId11" Type="http://schemas.openxmlformats.org/officeDocument/2006/relationships/image" Target="../media/image56.png"/><Relationship Id="rId10" Type="http://schemas.openxmlformats.org/officeDocument/2006/relationships/image" Target="../media/image38.png"/><Relationship Id="rId12" Type="http://schemas.openxmlformats.org/officeDocument/2006/relationships/image" Target="../media/image40.png"/><Relationship Id="rId9" Type="http://schemas.openxmlformats.org/officeDocument/2006/relationships/image" Target="../media/image29.png"/><Relationship Id="rId5" Type="http://schemas.openxmlformats.org/officeDocument/2006/relationships/image" Target="../media/image36.png"/><Relationship Id="rId6" Type="http://schemas.openxmlformats.org/officeDocument/2006/relationships/image" Target="../media/image48.png"/><Relationship Id="rId7" Type="http://schemas.openxmlformats.org/officeDocument/2006/relationships/image" Target="../media/image25.png"/><Relationship Id="rId8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52.png"/><Relationship Id="rId5" Type="http://schemas.openxmlformats.org/officeDocument/2006/relationships/image" Target="../media/image60.png"/><Relationship Id="rId6" Type="http://schemas.openxmlformats.org/officeDocument/2006/relationships/image" Target="../media/image5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26.png"/><Relationship Id="rId11" Type="http://schemas.openxmlformats.org/officeDocument/2006/relationships/image" Target="../media/image53.png"/><Relationship Id="rId10" Type="http://schemas.openxmlformats.org/officeDocument/2006/relationships/image" Target="../media/image43.png"/><Relationship Id="rId12" Type="http://schemas.openxmlformats.org/officeDocument/2006/relationships/image" Target="../media/image58.png"/><Relationship Id="rId9" Type="http://schemas.openxmlformats.org/officeDocument/2006/relationships/image" Target="../media/image29.png"/><Relationship Id="rId5" Type="http://schemas.openxmlformats.org/officeDocument/2006/relationships/image" Target="../media/image36.png"/><Relationship Id="rId6" Type="http://schemas.openxmlformats.org/officeDocument/2006/relationships/image" Target="../media/image48.png"/><Relationship Id="rId7" Type="http://schemas.openxmlformats.org/officeDocument/2006/relationships/image" Target="../media/image25.png"/><Relationship Id="rId8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57.png"/><Relationship Id="rId5" Type="http://schemas.openxmlformats.org/officeDocument/2006/relationships/image" Target="../media/image60.png"/><Relationship Id="rId6" Type="http://schemas.openxmlformats.org/officeDocument/2006/relationships/image" Target="../media/image4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1000" y="4385220"/>
            <a:ext cx="3810000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67375" y="1320254"/>
            <a:ext cx="8572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635442" y="2463254"/>
            <a:ext cx="8921115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Mobil Platformlarda Aile İçi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Sorumluluk Yönetimi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191000" y="4680495"/>
            <a:ext cx="3810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Ayşe Baş | 212511039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36193"/>
            <a:ext cx="5286375" cy="120491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2645568"/>
            <a:ext cx="555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Pedagojik Bir Dijital Ekosistem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3102768"/>
            <a:ext cx="5286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Bu proje, geleneksel aile içi görev yönetimini ve değerler eğitimini </a:t>
            </a:r>
            <a:r>
              <a:rPr b="1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SwiftUI (iOS)</a:t>
            </a: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ortamına taşıyan ödül tabanlı bir mobil sistemdir.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66775" y="4074318"/>
            <a:ext cx="47529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Temel Vizyon: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Sorumluluk paylaşımını optimize ederken, "Erdem Rozeti" mekanizması ile çocuklara dürüstlük, nezaket ve yardımseverlik gibi toplumsal değerleri kazandırmayı amaçlar.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810375" y="2838450"/>
            <a:ext cx="48102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Değerler Eğitimi: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Soyut erdemlerin somut puanlara ve başarılara dönüşümü.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810375" y="3571875"/>
            <a:ext cx="48102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Şeffaf Denetim: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Fotoğraflı kanıt sistemi ile aile içi güvenin inşası.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810375" y="4305300"/>
            <a:ext cx="48102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Demokratik Otorite: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Haftalık şampiyonun aile içi kararlarda söz hakkı alması.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938462"/>
            <a:ext cx="3333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671887"/>
            <a:ext cx="3333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4405312"/>
            <a:ext cx="3333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762000" y="571500"/>
            <a:ext cx="11401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Giriş: Proje Genel Bakış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71500" y="571500"/>
            <a:ext cx="95400" cy="5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33637"/>
            <a:ext cx="5286375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433637"/>
            <a:ext cx="5286375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962025" y="2824162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Geleneksel Yöntemler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62025" y="3424237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Kağıt listeler ve sözlü iletişim, modern aile yapısında verimsiz kalmaktadır: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724650" y="2824162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Modern Engeller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724650" y="3424237"/>
            <a:ext cx="45053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Değişen yaşam koşulları yeni ihtiyaçlar doğurmaktadır: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057275" y="409098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1152525" y="4090987"/>
            <a:ext cx="43148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Takip Sorunu: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Listelerin kaybolması veya güncelliğini yitirmesi.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057275" y="460533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152525" y="4605337"/>
            <a:ext cx="43148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Şeffaflık Eksikliği: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Onay süreçlerindeki belirsizlikler.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819900" y="383381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915150" y="3833812"/>
            <a:ext cx="43148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Motivasyon Kaybı: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Somut ilerleme göstergesinin olmaması.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819900" y="434816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915150" y="4348162"/>
            <a:ext cx="43148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Zaman Baskısı: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Ebeveynlerin iş temposu nedeniyle anlık denetim yapamaması.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Problem Tanımı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571500" y="571500"/>
            <a:ext cx="952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09850"/>
            <a:ext cx="3492549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609850"/>
            <a:ext cx="3492549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609850"/>
            <a:ext cx="3492549" cy="26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784223" y="3686175"/>
            <a:ext cx="30671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Dijital Kanıt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57250" y="4286250"/>
            <a:ext cx="292104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Görevler fotoğraflı kanıt sistemiyle uzaktan doğrulanır.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4562523" y="3686175"/>
            <a:ext cx="30671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Oyunlaştırma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4635549" y="4286250"/>
            <a:ext cx="292104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Puan ve rozetler ile sorumluluk bilinci teşvik edilir.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340822" y="3686175"/>
            <a:ext cx="30671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Demokratik Karar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413849" y="4286250"/>
            <a:ext cx="292104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Şampiyon çocuk, aile içi etkinliklerde söz sahibi olur.</a:t>
            </a:r>
            <a:endParaRPr/>
          </a:p>
        </p:txBody>
      </p:sp>
      <p:pic>
        <p:nvPicPr>
          <p:cNvPr descr="image.png" id="141" name="Google Shape;14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9100" y="30003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30003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88549" y="3000375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Çözüm Yaklaşımı</a:t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571500" y="571500"/>
            <a:ext cx="952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09825"/>
            <a:ext cx="3492549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09825"/>
            <a:ext cx="3492549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09825"/>
            <a:ext cx="3492549" cy="301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784223" y="3486150"/>
            <a:ext cx="30671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Frontend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857250" y="4086225"/>
            <a:ext cx="292104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SwiftUI (iOS)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857250" y="4486275"/>
            <a:ext cx="292104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Modern deklaratif UI mimarisi ve MVVM deseni ile akıcı deneyim.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4562523" y="3486150"/>
            <a:ext cx="30671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Backend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4635549" y="4086225"/>
            <a:ext cx="292104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Python &amp; Flask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4635549" y="4486275"/>
            <a:ext cx="292104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RESTful API yapısı ile verimli veri iletişimi ve iş mantığı.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8340822" y="3486150"/>
            <a:ext cx="30671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Veritabanı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8413849" y="4086225"/>
            <a:ext cx="292104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PostgreSQL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8413849" y="4486275"/>
            <a:ext cx="292104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Güçlü ilişkisel modelleme ile yüksek veri bütünlüğü.</a:t>
            </a:r>
            <a:endParaRPr/>
          </a:p>
        </p:txBody>
      </p:sp>
      <p:pic>
        <p:nvPicPr>
          <p:cNvPr descr="image.png" id="163" name="Google Shape;16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17675" y="280035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95975" y="280035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4274" y="2800350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Teknolojik Altyapı</a:t>
            </a: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571500" y="571500"/>
            <a:ext cx="952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660751"/>
            <a:ext cx="10668000" cy="504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1266825" y="3124200"/>
            <a:ext cx="96585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Veri tekrarını önlemek ve performansı artırmak amacıyla sistem mimarisi </a:t>
            </a:r>
            <a:r>
              <a:rPr b="1" i="0" lang="en-US" sz="19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3 ana faza</a:t>
            </a:r>
            <a:r>
              <a:rPr b="0" i="0" lang="en-US" sz="19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ayrılmıştır:</a:t>
            </a:r>
            <a:endParaRPr/>
          </a:p>
        </p:txBody>
      </p:sp>
      <p:pic>
        <p:nvPicPr>
          <p:cNvPr descr="image.png" id="175" name="Google Shape;17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66825" y="2076450"/>
            <a:ext cx="752475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2305050" y="2147887"/>
            <a:ext cx="3590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Modüler Veri Yapısı</a:t>
            </a:r>
            <a:endParaRPr/>
          </a:p>
        </p:txBody>
      </p:sp>
      <p:pic>
        <p:nvPicPr>
          <p:cNvPr descr="image.png" id="177" name="Google Shape;17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55825" y="4758630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1552575" y="5596830"/>
            <a:ext cx="2520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Faz 1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Kullanıcı Yönetimi</a:t>
            </a:r>
            <a:endParaRPr/>
          </a:p>
        </p:txBody>
      </p:sp>
      <p:pic>
        <p:nvPicPr>
          <p:cNvPr descr="image.png" id="179" name="Google Shape;17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24401" y="4758630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4835425" y="5596830"/>
            <a:ext cx="2520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Faz 2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Görev Akışı</a:t>
            </a:r>
            <a:endParaRPr/>
          </a:p>
        </p:txBody>
      </p:sp>
      <p:pic>
        <p:nvPicPr>
          <p:cNvPr descr="image.png" id="181" name="Google Shape;18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50250" y="475863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8118425" y="5596830"/>
            <a:ext cx="2520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Faz 3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Skor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1000125" y="571500"/>
            <a:ext cx="1095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3. VER</a:t>
            </a:r>
            <a:r>
              <a:rPr b="1" lang="en-US" sz="33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İ</a:t>
            </a:r>
            <a:r>
              <a:rPr b="1" i="0" lang="en-US" sz="33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TABANI M</a:t>
            </a:r>
            <a:r>
              <a:rPr b="1" lang="en-US" sz="33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İ</a:t>
            </a:r>
            <a:r>
              <a:rPr b="1" i="0" lang="en-US" sz="33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MAR</a:t>
            </a:r>
            <a:r>
              <a:rPr b="1" lang="en-US" sz="33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İ</a:t>
            </a:r>
            <a:r>
              <a:rPr b="1" i="0" lang="en-US" sz="33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STRATEJ</a:t>
            </a:r>
            <a:r>
              <a:rPr b="1" lang="en-US" sz="33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İ</a:t>
            </a:r>
            <a:r>
              <a:rPr b="1" i="0" lang="en-US" sz="33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b="1" lang="en-US" sz="33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İ</a:t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762000" y="571500"/>
            <a:ext cx="114300" cy="619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 txBox="1"/>
          <p:nvPr/>
        </p:nvSpPr>
        <p:spPr>
          <a:xfrm>
            <a:off x="571500" y="2812256"/>
            <a:ext cx="11049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Sistemin omurgasını oluşturan kimlik doğrulama katmanı:</a:t>
            </a:r>
            <a:endParaRPr/>
          </a:p>
        </p:txBody>
      </p:sp>
      <p:graphicFrame>
        <p:nvGraphicFramePr>
          <p:cNvPr id="191" name="Google Shape;191;p19"/>
          <p:cNvGraphicFramePr/>
          <p:nvPr/>
        </p:nvGraphicFramePr>
        <p:xfrm>
          <a:off x="571500" y="32599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{943DA957-5214-4079-95FD-D30295521A98}</a:tableStyleId>
              </a:tblPr>
              <a:tblGrid>
                <a:gridCol w="1384100"/>
                <a:gridCol w="3637200"/>
                <a:gridCol w="6022925"/>
              </a:tblGrid>
              <a:tr h="422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Tablo Adı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İşlev ve Kapsam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Kritik Alanlar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22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families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Ailenin kök kaydı ve genel ayarlar.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id, aile_adi, email, sifre_hash, weekly_main_event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roles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Ebeveyn ve Çocuk yetki tanımları.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id, role_name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22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Bireysel kullanıcı profilleri.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id, family_id, role_id, isim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2" name="Google Shape;192;p19"/>
          <p:cNvSpPr/>
          <p:nvPr/>
        </p:nvSpPr>
        <p:spPr>
          <a:xfrm>
            <a:off x="1946076" y="3259931"/>
            <a:ext cx="9600" cy="419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5583287" y="3259931"/>
            <a:ext cx="9600" cy="419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11606212" y="3259931"/>
            <a:ext cx="9600" cy="419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571500" y="4088606"/>
            <a:ext cx="1384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1955601" y="4088606"/>
            <a:ext cx="363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5592812" y="4088606"/>
            <a:ext cx="6022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571500" y="4512468"/>
            <a:ext cx="1384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1955601" y="4512468"/>
            <a:ext cx="363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5592812" y="4512468"/>
            <a:ext cx="6022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571500" y="4936331"/>
            <a:ext cx="1384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1955601" y="4936331"/>
            <a:ext cx="363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5592812" y="4936331"/>
            <a:ext cx="6022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762000" y="571500"/>
            <a:ext cx="1140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Veritabanı: Temel Yapı ve Kimlik</a:t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571500" y="571500"/>
            <a:ext cx="9540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571500" y="3024187"/>
            <a:ext cx="11049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Uygulamanın temel iş mantığı ve kanıt sistemi:</a:t>
            </a:r>
            <a:endParaRPr/>
          </a:p>
        </p:txBody>
      </p:sp>
      <p:graphicFrame>
        <p:nvGraphicFramePr>
          <p:cNvPr id="212" name="Google Shape;212;p20"/>
          <p:cNvGraphicFramePr/>
          <p:nvPr/>
        </p:nvGraphicFramePr>
        <p:xfrm>
          <a:off x="571500" y="34718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{943DA957-5214-4079-95FD-D30295521A98}</a:tableStyleId>
              </a:tblPr>
              <a:tblGrid>
                <a:gridCol w="2077950"/>
                <a:gridCol w="3649850"/>
                <a:gridCol w="5316450"/>
              </a:tblGrid>
              <a:tr h="422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Tablo Adı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İşlev ve Kapsam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Kritik Alanlar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22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tasks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Sorumluluk ve Erdem görev havuzu.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id, assigned_to, title, default_point, is_active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task_completions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Görev bitirme başvuruları ve kanıtlar.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id, user_id, task_id, status, proof_image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13" name="Google Shape;213;p20"/>
          <p:cNvSpPr/>
          <p:nvPr/>
        </p:nvSpPr>
        <p:spPr>
          <a:xfrm>
            <a:off x="2639913" y="3471862"/>
            <a:ext cx="9600" cy="419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6289774" y="3471862"/>
            <a:ext cx="9600" cy="419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11606212" y="3471862"/>
            <a:ext cx="9600" cy="419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571500" y="4300537"/>
            <a:ext cx="2077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2649438" y="4300537"/>
            <a:ext cx="3649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6299299" y="4300537"/>
            <a:ext cx="5316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571500" y="4724400"/>
            <a:ext cx="2077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2649438" y="4724400"/>
            <a:ext cx="3649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6299299" y="4724400"/>
            <a:ext cx="5316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762000" y="571500"/>
            <a:ext cx="1140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Veritabanı: Görev ve Onay Akışı</a:t>
            </a:r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571500" y="571500"/>
            <a:ext cx="9540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 txBox="1"/>
          <p:nvPr/>
        </p:nvSpPr>
        <p:spPr>
          <a:xfrm>
            <a:off x="571500" y="2412206"/>
            <a:ext cx="11049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Motivasyon, skor ve rozet yönetim sistemi:</a:t>
            </a:r>
            <a:endParaRPr/>
          </a:p>
        </p:txBody>
      </p:sp>
      <p:graphicFrame>
        <p:nvGraphicFramePr>
          <p:cNvPr id="230" name="Google Shape;230;p21"/>
          <p:cNvGraphicFramePr/>
          <p:nvPr/>
        </p:nvGraphicFramePr>
        <p:xfrm>
          <a:off x="571500" y="281225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{943DA957-5214-4079-95FD-D30295521A98}</a:tableStyleId>
              </a:tblPr>
              <a:tblGrid>
                <a:gridCol w="2613575"/>
                <a:gridCol w="3792575"/>
                <a:gridCol w="4638075"/>
              </a:tblGrid>
              <a:tr h="423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Tablo Adı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İşlev ve Kapsam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Kritik Alanlar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23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user_weekly_points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Haftalık bireysel performans verileri.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user_id, week_no, responsibility_points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family_weekly_points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Ailenin ortak hedef ilerleme takibi.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family_id, week_no, total_point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23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point_logs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Detaylı tarihsel puan dökümleri.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user_id, amount, point_type, created_at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badges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Başarı ve Erdem Rozeti tanımları.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id, badge_name, required_points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23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user_badges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Kazanılan ödüllerin sahiplik kaydı.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user_id, badge_id, earned_date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1" name="Google Shape;231;p21"/>
          <p:cNvSpPr/>
          <p:nvPr/>
        </p:nvSpPr>
        <p:spPr>
          <a:xfrm>
            <a:off x="3175545" y="2812256"/>
            <a:ext cx="9600" cy="419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6968132" y="2812256"/>
            <a:ext cx="9600" cy="419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11606212" y="2812256"/>
            <a:ext cx="9600" cy="419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571500" y="3640931"/>
            <a:ext cx="2613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3185070" y="3640931"/>
            <a:ext cx="3792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6977657" y="3640931"/>
            <a:ext cx="4638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571500" y="4064793"/>
            <a:ext cx="2613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3185070" y="4064793"/>
            <a:ext cx="3792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6977657" y="4064793"/>
            <a:ext cx="4638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571500" y="4488656"/>
            <a:ext cx="2613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3185070" y="4488656"/>
            <a:ext cx="3792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6977657" y="4488656"/>
            <a:ext cx="4638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571500" y="4912518"/>
            <a:ext cx="2613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3185070" y="4912518"/>
            <a:ext cx="3792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6977657" y="4912518"/>
            <a:ext cx="4638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571500" y="5336381"/>
            <a:ext cx="2613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3185070" y="5336381"/>
            <a:ext cx="3792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6977657" y="5336381"/>
            <a:ext cx="4638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762000" y="571500"/>
            <a:ext cx="1140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Veritabanı: Puanlar ve Oyunlaştırma</a:t>
            </a:r>
            <a:endParaRPr/>
          </a:p>
        </p:txBody>
      </p:sp>
      <p:sp>
        <p:nvSpPr>
          <p:cNvPr id="250" name="Google Shape;250;p21"/>
          <p:cNvSpPr/>
          <p:nvPr/>
        </p:nvSpPr>
        <p:spPr>
          <a:xfrm>
            <a:off x="571500" y="571500"/>
            <a:ext cx="9540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5" name="Google Shape;2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2325" y="1385887"/>
            <a:ext cx="219075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00625" y="1385887"/>
            <a:ext cx="219075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78924" y="1385887"/>
            <a:ext cx="219075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2"/>
          <p:cNvSpPr txBox="1"/>
          <p:nvPr/>
        </p:nvSpPr>
        <p:spPr>
          <a:xfrm>
            <a:off x="571500" y="6053137"/>
            <a:ext cx="349254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Giriş Ekranı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4349799" y="6053137"/>
            <a:ext cx="349254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Aileye Katıl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8128099" y="6053137"/>
            <a:ext cx="349254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Profil Seçimi</a:t>
            </a:r>
            <a:endParaRPr/>
          </a:p>
        </p:txBody>
      </p:sp>
      <p:pic>
        <p:nvPicPr>
          <p:cNvPr descr="image.png" id="262" name="Google Shape;262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98525" y="1462087"/>
            <a:ext cx="2038350" cy="441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76825" y="1462087"/>
            <a:ext cx="2038350" cy="441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855124" y="1462087"/>
            <a:ext cx="2038350" cy="44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2"/>
          <p:cNvSpPr txBox="1"/>
          <p:nvPr/>
        </p:nvSpPr>
        <p:spPr>
          <a:xfrm>
            <a:off x="762000" y="404812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Uygulama Ekranları: Başlangıç</a:t>
            </a:r>
            <a:endParaRPr/>
          </a:p>
        </p:txBody>
      </p:sp>
      <p:sp>
        <p:nvSpPr>
          <p:cNvPr id="266" name="Google Shape;266;p22"/>
          <p:cNvSpPr/>
          <p:nvPr/>
        </p:nvSpPr>
        <p:spPr>
          <a:xfrm>
            <a:off x="571500" y="404812"/>
            <a:ext cx="952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7" name="Google Shape;267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44700" y="1331964"/>
            <a:ext cx="2268375" cy="4679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883650" y="1385875"/>
            <a:ext cx="2307726" cy="4572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778925" y="1331975"/>
            <a:ext cx="2423400" cy="467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4" name="Google Shape;27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2325" y="1385887"/>
            <a:ext cx="219075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00625" y="1385887"/>
            <a:ext cx="219075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78924" y="1385887"/>
            <a:ext cx="219075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3"/>
          <p:cNvSpPr txBox="1"/>
          <p:nvPr/>
        </p:nvSpPr>
        <p:spPr>
          <a:xfrm>
            <a:off x="571500" y="6053137"/>
            <a:ext cx="349254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Ebeveyn Görünümü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4349799" y="6053137"/>
            <a:ext cx="349254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Görev Atama</a:t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8128099" y="6053137"/>
            <a:ext cx="349254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Çocuk Görünümü</a:t>
            </a:r>
            <a:endParaRPr/>
          </a:p>
        </p:txBody>
      </p:sp>
      <p:pic>
        <p:nvPicPr>
          <p:cNvPr descr="image.png" id="281" name="Google Shape;281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98525" y="1462087"/>
            <a:ext cx="2038350" cy="441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76825" y="1462087"/>
            <a:ext cx="2038350" cy="441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855124" y="1462087"/>
            <a:ext cx="2038350" cy="44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3"/>
          <p:cNvSpPr txBox="1"/>
          <p:nvPr/>
        </p:nvSpPr>
        <p:spPr>
          <a:xfrm>
            <a:off x="762000" y="404812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Görev Yönetim Panelleri</a:t>
            </a:r>
            <a:endParaRPr/>
          </a:p>
        </p:txBody>
      </p:sp>
      <p:sp>
        <p:nvSpPr>
          <p:cNvPr id="285" name="Google Shape;285;p23"/>
          <p:cNvSpPr/>
          <p:nvPr/>
        </p:nvSpPr>
        <p:spPr>
          <a:xfrm>
            <a:off x="571500" y="404812"/>
            <a:ext cx="952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2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53825" y="1385875"/>
            <a:ext cx="225925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945700" y="1356313"/>
            <a:ext cx="2300600" cy="463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778925" y="1385888"/>
            <a:ext cx="2159841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3" name="Google Shape;29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39062" y="1443037"/>
            <a:ext cx="2476500" cy="49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4"/>
          <p:cNvSpPr txBox="1"/>
          <p:nvPr/>
        </p:nvSpPr>
        <p:spPr>
          <a:xfrm>
            <a:off x="571500" y="2728912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Fotoğraflı Kanıt Sistemi</a:t>
            </a:r>
            <a:endParaRPr/>
          </a:p>
        </p:txBody>
      </p:sp>
      <p:sp>
        <p:nvSpPr>
          <p:cNvPr id="296" name="Google Shape;296;p24"/>
          <p:cNvSpPr txBox="1"/>
          <p:nvPr/>
        </p:nvSpPr>
        <p:spPr>
          <a:xfrm>
            <a:off x="571500" y="3328987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Görevlerin suistimal edilmesini önlemek adına ebeveyn onay süreci işletilmektedir:</a:t>
            </a:r>
            <a:endParaRPr/>
          </a:p>
        </p:txBody>
      </p:sp>
      <p:pic>
        <p:nvPicPr>
          <p:cNvPr descr="image.png" id="297" name="Google Shape;29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5262" y="1519237"/>
            <a:ext cx="2324100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4"/>
          <p:cNvSpPr txBox="1"/>
          <p:nvPr/>
        </p:nvSpPr>
        <p:spPr>
          <a:xfrm>
            <a:off x="666750" y="399573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99" name="Google Shape;299;p24"/>
          <p:cNvSpPr txBox="1"/>
          <p:nvPr/>
        </p:nvSpPr>
        <p:spPr>
          <a:xfrm>
            <a:off x="762000" y="3995737"/>
            <a:ext cx="50958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Çocuk, tamamlanan işin görselini sisteme yükler.</a:t>
            </a:r>
            <a:endParaRPr/>
          </a:p>
        </p:txBody>
      </p:sp>
      <p:sp>
        <p:nvSpPr>
          <p:cNvPr id="300" name="Google Shape;300;p24"/>
          <p:cNvSpPr txBox="1"/>
          <p:nvPr/>
        </p:nvSpPr>
        <p:spPr>
          <a:xfrm>
            <a:off x="666750" y="434816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01" name="Google Shape;301;p24"/>
          <p:cNvSpPr txBox="1"/>
          <p:nvPr/>
        </p:nvSpPr>
        <p:spPr>
          <a:xfrm>
            <a:off x="762000" y="4348162"/>
            <a:ext cx="50958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Ebeveyn, kanıtı uzaktan inceleyerek onay veya ret kararı verir.</a:t>
            </a:r>
            <a:endParaRPr/>
          </a:p>
        </p:txBody>
      </p:sp>
      <p:sp>
        <p:nvSpPr>
          <p:cNvPr id="302" name="Google Shape;302;p24"/>
          <p:cNvSpPr txBox="1"/>
          <p:nvPr/>
        </p:nvSpPr>
        <p:spPr>
          <a:xfrm>
            <a:off x="666750" y="470058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03" name="Google Shape;303;p24"/>
          <p:cNvSpPr txBox="1"/>
          <p:nvPr/>
        </p:nvSpPr>
        <p:spPr>
          <a:xfrm>
            <a:off x="762000" y="4700587"/>
            <a:ext cx="50958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Onay anında puanlar otomatik olarak hesaplanır.</a:t>
            </a:r>
            <a:endParaRPr/>
          </a:p>
        </p:txBody>
      </p:sp>
      <p:sp>
        <p:nvSpPr>
          <p:cNvPr id="304" name="Google Shape;304;p24"/>
          <p:cNvSpPr txBox="1"/>
          <p:nvPr/>
        </p:nvSpPr>
        <p:spPr>
          <a:xfrm>
            <a:off x="762000" y="461962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Doğrulama ve Onay Mekanizması</a:t>
            </a:r>
            <a:endParaRPr/>
          </a:p>
        </p:txBody>
      </p:sp>
      <p:sp>
        <p:nvSpPr>
          <p:cNvPr id="305" name="Google Shape;305;p24"/>
          <p:cNvSpPr/>
          <p:nvPr/>
        </p:nvSpPr>
        <p:spPr>
          <a:xfrm>
            <a:off x="571500" y="461962"/>
            <a:ext cx="952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6" name="Google Shape;306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39050" y="1443025"/>
            <a:ext cx="2476500" cy="49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1" name="Google Shape;31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2325" y="1385887"/>
            <a:ext cx="219075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00625" y="1385887"/>
            <a:ext cx="219075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78924" y="1385887"/>
            <a:ext cx="219075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5"/>
          <p:cNvSpPr txBox="1"/>
          <p:nvPr/>
        </p:nvSpPr>
        <p:spPr>
          <a:xfrm>
            <a:off x="571500" y="6053137"/>
            <a:ext cx="349254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Performans Analizi</a:t>
            </a:r>
            <a:endParaRPr/>
          </a:p>
        </p:txBody>
      </p:sp>
      <p:sp>
        <p:nvSpPr>
          <p:cNvPr id="316" name="Google Shape;316;p25"/>
          <p:cNvSpPr txBox="1"/>
          <p:nvPr/>
        </p:nvSpPr>
        <p:spPr>
          <a:xfrm>
            <a:off x="4349799" y="6053137"/>
            <a:ext cx="349254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Erdem Rozetleri</a:t>
            </a:r>
            <a:endParaRPr/>
          </a:p>
        </p:txBody>
      </p:sp>
      <p:sp>
        <p:nvSpPr>
          <p:cNvPr id="317" name="Google Shape;317;p25"/>
          <p:cNvSpPr txBox="1"/>
          <p:nvPr/>
        </p:nvSpPr>
        <p:spPr>
          <a:xfrm>
            <a:off x="8128099" y="6053137"/>
            <a:ext cx="349254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Puan Geçmişi</a:t>
            </a:r>
            <a:endParaRPr/>
          </a:p>
        </p:txBody>
      </p:sp>
      <p:pic>
        <p:nvPicPr>
          <p:cNvPr descr="image.png" id="318" name="Google Shape;318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98525" y="1462087"/>
            <a:ext cx="2038350" cy="441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76825" y="1462087"/>
            <a:ext cx="2038350" cy="441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0" name="Google Shape;320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855124" y="1462087"/>
            <a:ext cx="2038350" cy="44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5"/>
          <p:cNvSpPr txBox="1"/>
          <p:nvPr/>
        </p:nvSpPr>
        <p:spPr>
          <a:xfrm>
            <a:off x="762000" y="404812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Başarı Takibi ve Rozetler</a:t>
            </a:r>
            <a:endParaRPr/>
          </a:p>
        </p:txBody>
      </p:sp>
      <p:sp>
        <p:nvSpPr>
          <p:cNvPr id="322" name="Google Shape;322;p25"/>
          <p:cNvSpPr/>
          <p:nvPr/>
        </p:nvSpPr>
        <p:spPr>
          <a:xfrm>
            <a:off x="571500" y="404812"/>
            <a:ext cx="952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3" name="Google Shape;323;p2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35900" y="1385875"/>
            <a:ext cx="2377175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000625" y="1353162"/>
            <a:ext cx="2190750" cy="46374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778915" y="1353150"/>
            <a:ext cx="2190760" cy="4637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0" name="Google Shape;33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1347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39062" y="1443037"/>
            <a:ext cx="2476500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77162" y="1481137"/>
            <a:ext cx="24003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6"/>
          <p:cNvSpPr txBox="1"/>
          <p:nvPr/>
        </p:nvSpPr>
        <p:spPr>
          <a:xfrm>
            <a:off x="762000" y="461958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3800"/>
              </a:spcAft>
              <a:buSzPts val="1100"/>
              <a:buNone/>
            </a:pPr>
            <a:r>
              <a:rPr b="1" lang="en-US" sz="36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Takım Çalışması ve Oyunlaştırma</a:t>
            </a:r>
            <a:endParaRPr b="1" sz="3150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4" name="Google Shape;334;p26"/>
          <p:cNvSpPr/>
          <p:nvPr/>
        </p:nvSpPr>
        <p:spPr>
          <a:xfrm>
            <a:off x="571500" y="461962"/>
            <a:ext cx="952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39050" y="1446575"/>
            <a:ext cx="2476500" cy="49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6"/>
          <p:cNvSpPr txBox="1"/>
          <p:nvPr/>
        </p:nvSpPr>
        <p:spPr>
          <a:xfrm>
            <a:off x="960600" y="1775100"/>
            <a:ext cx="6286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Ortak Hedef ve Aile Puanı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Ailenin tüm üyeleri görevleri tamamlayarak "sıradan puanlar" ile </a:t>
            </a:r>
            <a:r>
              <a:rPr b="1" i="0" lang="en-US" sz="1500" u="none" cap="none" strike="noStrike">
                <a:solidFill>
                  <a:srgbClr val="5CB884"/>
                </a:solidFill>
                <a:latin typeface="Lato"/>
                <a:ea typeface="Lato"/>
                <a:cs typeface="Lato"/>
                <a:sym typeface="Lato"/>
              </a:rPr>
              <a:t>ortak puan havuzuna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katkı sağlar. Belirlenen sınıra ulaşıldığında, hafta sonu ana etkinliği (örn: Film Gecesi) ailece hak edilir.</a:t>
            </a:r>
            <a:endParaRPr/>
          </a:p>
        </p:txBody>
      </p:sp>
      <p:sp>
        <p:nvSpPr>
          <p:cNvPr id="337" name="Google Shape;337;p26"/>
          <p:cNvSpPr txBox="1"/>
          <p:nvPr/>
        </p:nvSpPr>
        <p:spPr>
          <a:xfrm>
            <a:off x="595275" y="1775100"/>
            <a:ext cx="23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5CB884"/>
                </a:solidFill>
                <a:latin typeface="Lato"/>
                <a:ea typeface="Lato"/>
                <a:cs typeface="Lato"/>
                <a:sym typeface="Lato"/>
              </a:rPr>
              <a:t>✦</a:t>
            </a:r>
            <a:endParaRPr/>
          </a:p>
        </p:txBody>
      </p:sp>
      <p:sp>
        <p:nvSpPr>
          <p:cNvPr id="338" name="Google Shape;338;p26"/>
          <p:cNvSpPr txBox="1"/>
          <p:nvPr/>
        </p:nvSpPr>
        <p:spPr>
          <a:xfrm rot="10800000">
            <a:off x="480825" y="3130875"/>
            <a:ext cx="27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5CB884"/>
                </a:solidFill>
                <a:latin typeface="Lato"/>
                <a:ea typeface="Lato"/>
                <a:cs typeface="Lato"/>
                <a:sym typeface="Lato"/>
              </a:rPr>
              <a:t>✦</a:t>
            </a:r>
            <a:endParaRPr/>
          </a:p>
        </p:txBody>
      </p:sp>
      <p:sp>
        <p:nvSpPr>
          <p:cNvPr id="339" name="Google Shape;339;p26"/>
          <p:cNvSpPr txBox="1"/>
          <p:nvPr/>
        </p:nvSpPr>
        <p:spPr>
          <a:xfrm>
            <a:off x="960600" y="3173550"/>
            <a:ext cx="6286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Bireysel Başarı (Erdem Rozeti)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Ortak amaca hizmet etmenin yanı sıra, o hafta özel erdem görevlerini başarıyla tamamlayan çocuk, bireysel bir onur olarak </a:t>
            </a:r>
            <a:r>
              <a:rPr b="1" i="0" lang="en-US" sz="1500" u="none" cap="none" strike="noStrike">
                <a:solidFill>
                  <a:srgbClr val="5CB884"/>
                </a:solidFill>
                <a:latin typeface="Lato"/>
                <a:ea typeface="Lato"/>
                <a:cs typeface="Lato"/>
                <a:sym typeface="Lato"/>
              </a:rPr>
              <a:t>Erdem Rozeti'ni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kazanır.</a:t>
            </a:r>
            <a:endParaRPr/>
          </a:p>
        </p:txBody>
      </p:sp>
      <p:sp>
        <p:nvSpPr>
          <p:cNvPr id="340" name="Google Shape;340;p26"/>
          <p:cNvSpPr txBox="1"/>
          <p:nvPr/>
        </p:nvSpPr>
        <p:spPr>
          <a:xfrm>
            <a:off x="960600" y="4572000"/>
            <a:ext cx="6286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Demokratik Karar Hakkı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Etkinlik ailece ortak kazanılmış olsa da; o etkinliğin detaylarına (hangi filmin izleneceği, nerede yemek yenileceği vb.) </a:t>
            </a:r>
            <a:r>
              <a:rPr b="1" i="0" lang="en-US" sz="1500" u="none" cap="none" strike="noStrike">
                <a:solidFill>
                  <a:srgbClr val="5CB884"/>
                </a:solidFill>
                <a:latin typeface="Lato"/>
                <a:ea typeface="Lato"/>
                <a:cs typeface="Lato"/>
                <a:sym typeface="Lato"/>
              </a:rPr>
              <a:t>karar verme ayrıcalığı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rozeti kazanan çocuğa aittir.</a:t>
            </a:r>
            <a:endParaRPr/>
          </a:p>
        </p:txBody>
      </p:sp>
      <p:sp>
        <p:nvSpPr>
          <p:cNvPr id="341" name="Google Shape;341;p26"/>
          <p:cNvSpPr txBox="1"/>
          <p:nvPr/>
        </p:nvSpPr>
        <p:spPr>
          <a:xfrm>
            <a:off x="480825" y="4486650"/>
            <a:ext cx="122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5CB884"/>
                </a:solidFill>
                <a:latin typeface="Lato"/>
                <a:ea typeface="Lato"/>
                <a:cs typeface="Lato"/>
                <a:sym typeface="Lato"/>
              </a:rPr>
              <a:t>✦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6" name="Google Shape;34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7" name="Google Shape;34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24312" y="4005262"/>
            <a:ext cx="4143375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7"/>
          <p:cNvSpPr txBox="1"/>
          <p:nvPr/>
        </p:nvSpPr>
        <p:spPr>
          <a:xfrm>
            <a:off x="3920728" y="2157412"/>
            <a:ext cx="435054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Teşekkürler</a:t>
            </a:r>
            <a:endParaRPr/>
          </a:p>
        </p:txBody>
      </p:sp>
      <p:sp>
        <p:nvSpPr>
          <p:cNvPr id="349" name="Google Shape;349;p27"/>
          <p:cNvSpPr txBox="1"/>
          <p:nvPr/>
        </p:nvSpPr>
        <p:spPr>
          <a:xfrm>
            <a:off x="4024312" y="3186112"/>
            <a:ext cx="41433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Sorularınız?</a:t>
            </a:r>
            <a:endParaRPr/>
          </a:p>
        </p:txBody>
      </p:sp>
      <p:sp>
        <p:nvSpPr>
          <p:cNvPr id="350" name="Google Shape;350;p27"/>
          <p:cNvSpPr txBox="1"/>
          <p:nvPr/>
        </p:nvSpPr>
        <p:spPr>
          <a:xfrm>
            <a:off x="4024312" y="4300537"/>
            <a:ext cx="414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Ay</a:t>
            </a:r>
            <a:r>
              <a:rPr lang="en-US" sz="135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ş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 Ba</a:t>
            </a:r>
            <a:r>
              <a:rPr lang="en-US" sz="135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ş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